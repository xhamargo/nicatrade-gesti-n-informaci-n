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ghzMcnpHLHoa7hgOfYuTYCyFCa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Distribución del importe por categoría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 (USD)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Accesorios</c:v>
                </c:pt>
                <c:pt idx="1">
                  <c:v>Alimentos</c:v>
                </c:pt>
                <c:pt idx="2">
                  <c:v>Bebidas</c:v>
                </c:pt>
                <c:pt idx="3">
                  <c:v>Hogar</c:v>
                </c:pt>
                <c:pt idx="4">
                  <c:v>Limpieza</c:v>
                </c:pt>
                <c:pt idx="5">
                  <c:v>Oficina</c:v>
                </c:pt>
                <c:pt idx="6">
                  <c:v>Tecnología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9091.5</c:v>
                </c:pt>
                <c:pt idx="1">
                  <c:v>8664.0</c:v>
                </c:pt>
                <c:pt idx="2">
                  <c:v>2661.75</c:v>
                </c:pt>
                <c:pt idx="3">
                  <c:v>5995.5</c:v>
                </c:pt>
                <c:pt idx="4">
                  <c:v>3438.5</c:v>
                </c:pt>
                <c:pt idx="5">
                  <c:v>3803.5</c:v>
                </c:pt>
                <c:pt idx="6">
                  <c:v>6704.25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0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0080" y="731520"/>
            <a:ext cx="109728" cy="5120640"/>
          </a:xfrm>
          <a:prstGeom prst="rect">
            <a:avLst/>
          </a:prstGeom>
          <a:solidFill>
            <a:srgbClr val="2A91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51560" y="10972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NicaTrade International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51560" y="21488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de la operación de importación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51560" y="2971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EDCF0"/>
                </a:solidFill>
                <a:latin typeface="Calibri"/>
                <a:ea typeface="Calibri"/>
                <a:cs typeface="Calibri"/>
                <a:sym typeface="Calibri"/>
              </a:rPr>
              <a:t>México → Nicaragua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51560" y="3886188"/>
            <a:ext cx="1005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Jose Luis Rivera Malta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Gabriel Pereira Gonzalez</a:t>
            </a:r>
            <a:endParaRPr sz="1700"/>
          </a:p>
        </p:txBody>
      </p:sp>
      <p:sp>
        <p:nvSpPr>
          <p:cNvPr id="89" name="Google Shape;89;p1"/>
          <p:cNvSpPr txBox="1"/>
          <p:nvPr/>
        </p:nvSpPr>
        <p:spPr>
          <a:xfrm>
            <a:off x="1051560" y="519427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17/09/2026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Empresa y operación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Caso de estudio: gestión digital de información para una operación internacional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40080" y="1417320"/>
            <a:ext cx="6400800" cy="13716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68680" y="157276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Actividad de la empresa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68680" y="1938528"/>
            <a:ext cx="5897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NicaTrade International se dedica a la importación y exportación de productos alimenticios y de consumo hacia mercados de Centroamérica.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40080" y="2926080"/>
            <a:ext cx="6400800" cy="13716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68680" y="308152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Operación analizada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68680" y="3447288"/>
            <a:ext cx="5897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Importación con México como país de origen y Nicaragua como país de destino.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40080" y="4434840"/>
            <a:ext cx="6400800" cy="13716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68680" y="459028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Datos procesados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68680" y="4956048"/>
            <a:ext cx="5897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Código, nombre del producto, categoría, país de origen, cantidad, precio unitario e importe.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360920" y="1417320"/>
            <a:ext cx="4160520" cy="45720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635240" y="1691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50 productos analizados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635240" y="224028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Accesorios: 7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Alimentos: 15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Bebidas: 5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Hogar: 6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Limpieza: 5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Oficina: 6 productos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Tecnología: 6 productos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635240" y="5257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A917D"/>
                </a:solidFill>
                <a:latin typeface="Calibri"/>
                <a:ea typeface="Calibri"/>
                <a:cs typeface="Calibri"/>
                <a:sym typeface="Calibri"/>
              </a:rPr>
              <a:t>Categorías: alimentos, bebidas, hogar, limpieza, oficina, tecnología y accesorios.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02920" y="6510528"/>
            <a:ext cx="11155680" cy="27432"/>
          </a:xfrm>
          <a:prstGeom prst="rect">
            <a:avLst/>
          </a:prstGeom>
          <a:solidFill>
            <a:srgbClr val="266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Principales resultados obtenidos del Excel y utilizados en el informe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40080" y="1325880"/>
            <a:ext cx="3246120" cy="141732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266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22959" y="15361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Importe total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822959" y="19202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US$ 40,359.00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206240" y="1325880"/>
            <a:ext cx="3246120" cy="141732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266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389120" y="15361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Producto con mayor importe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389120" y="19202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Mochilas</a:t>
            </a:r>
            <a:br>
              <a:rPr b="1" i="0" lang="en-US" sz="21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US$ 1,912.50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772400" y="1325880"/>
            <a:ext cx="3246120" cy="141732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266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955279" y="153619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Precio unitario promedio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7955279" y="192024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US$ 7.74</a:t>
            </a:r>
            <a:endParaRPr/>
          </a:p>
        </p:txBody>
      </p:sp>
      <p:graphicFrame>
        <p:nvGraphicFramePr>
          <p:cNvPr id="126" name="Google Shape;126;p3"/>
          <p:cNvGraphicFramePr/>
          <p:nvPr/>
        </p:nvGraphicFramePr>
        <p:xfrm>
          <a:off x="594360" y="2971800"/>
          <a:ext cx="6629400" cy="3154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7" name="Google Shape;127;p3"/>
          <p:cNvSpPr/>
          <p:nvPr/>
        </p:nvSpPr>
        <p:spPr>
          <a:xfrm>
            <a:off x="7498079" y="3063240"/>
            <a:ext cx="3886200" cy="278892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2D7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772400" y="3337560"/>
            <a:ext cx="3337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50 productos registrados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México: US$ 36,919.50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SI: “Importe Alto” / “Importe Normal”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Mayor importe: Mochilas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02920" y="6510528"/>
            <a:ext cx="11155680" cy="27432"/>
          </a:xfrm>
          <a:prstGeom prst="rect">
            <a:avLst/>
          </a:prstGeom>
          <a:solidFill>
            <a:srgbClr val="266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304A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Interpretación de los resultados y aporte de la gestión digital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94360" y="1417320"/>
            <a:ext cx="3429000" cy="34290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822960" y="171907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Resultado principal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22960" y="2395728"/>
            <a:ext cx="29260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operación registra US$ 40,359.00 en 50 productos. Mochilas presenta el mayor importe individual: US$ 1,912.50.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434840" y="1417320"/>
            <a:ext cx="3429000" cy="34290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663440" y="171907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Importancia del análisis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4663440" y="2395728"/>
            <a:ext cx="29260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Analizar cantidades, precios, importes y origen permite conocer el valor de la operación, identificar los registros de mayor importe y detectar datos que requieren verificación.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275320" y="1417320"/>
            <a:ext cx="3429000" cy="3429000"/>
          </a:xfrm>
          <a:prstGeom prst="roundRect">
            <a:avLst>
              <a:gd fmla="val 16667" name="adj"/>
            </a:avLst>
          </a:prstGeom>
          <a:solidFill>
            <a:srgbClr val="EBF2F8"/>
          </a:solidFill>
          <a:ln cap="flat" cmpd="sng" w="9525">
            <a:solidFill>
              <a:srgbClr val="CDD7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503920" y="1719072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666A0"/>
                </a:solidFill>
                <a:latin typeface="Calibri"/>
                <a:ea typeface="Calibri"/>
                <a:cs typeface="Calibri"/>
                <a:sym typeface="Calibri"/>
              </a:rPr>
              <a:t>Gestión digital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8503920" y="2395728"/>
            <a:ext cx="29260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Excel permite procesar y analizar; Word permite elaborar el informe; PowerPoint comunica los resultados. La organización digital facilita crear, procesar, comunicar, organizar, compartir, buscar y recuperar información.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22960" y="5138928"/>
            <a:ext cx="10561320" cy="841248"/>
          </a:xfrm>
          <a:prstGeom prst="roundRect">
            <a:avLst>
              <a:gd fmla="val 16667" name="adj"/>
            </a:avLst>
          </a:prstGeom>
          <a:solidFill>
            <a:srgbClr val="FFF8E6"/>
          </a:solidFill>
          <a:ln cap="flat" cmpd="sng" w="9525">
            <a:solidFill>
              <a:srgbClr val="DC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51560" y="5340096"/>
            <a:ext cx="10104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Observación de consistencia: Gorras (Guatemala), Paraguas (Costa Rica) y Lentes de sol (El Salvador) figuran con origen distinto de México; deben verificarse antes de usar los datos en una operación real.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02920" y="6510528"/>
            <a:ext cx="11155680" cy="27432"/>
          </a:xfrm>
          <a:prstGeom prst="rect">
            <a:avLst/>
          </a:prstGeom>
          <a:solidFill>
            <a:srgbClr val="266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